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B24D"/>
                </a:solidFill>
                <a:latin typeface="Segoe UI Semibold"/>
              </a:rPr>
              <a:t>RAPIDWATCH  ·  GULF GEOSPATIAL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ECF3FB"/>
                </a:solidFill>
                <a:latin typeface="Segoe UI Semibold"/>
              </a:rPr>
              <a:t>Understanding Hurricane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ECF3FB"/>
                </a:solidFill>
                <a:latin typeface="Segoe UI Semibold"/>
              </a:rPr>
              <a:t>Rapid Intensification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584448"/>
            <a:ext cx="2377440" cy="4572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CB6D2"/>
                </a:solidFill>
                <a:latin typeface="Segoe UI"/>
              </a:rPr>
              <a:t>Where and when hurricanes explode in the Gulf of Mexico — </a:t>
            </a:r>
            <a:r>
              <a:rPr sz="1800" b="1" i="0">
                <a:solidFill>
                  <a:srgbClr val="ECF3FB"/>
                </a:solidFill>
                <a:latin typeface="Segoe UI"/>
              </a:rPr>
              <a:t>and where to point the instruments that could see it coming.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12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CF3FB"/>
                </a:solidFill>
                <a:latin typeface="Segoe UI"/>
              </a:rPr>
              <a:t>Alex Philp, Ph.D.</a:t>
            </a:r>
            <a:r>
              <a:rPr sz="1600" b="0" i="0">
                <a:solidFill>
                  <a:srgbClr val="9CB6D2"/>
                </a:solidFill>
                <a:latin typeface="Segoe UI"/>
              </a:rPr>
              <a:t>   ·   RapidWatch independent analysis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86A6"/>
                </a:solidFill>
                <a:latin typeface="Segoe UI"/>
              </a:rPr>
              <a:t>175 years of NOAA best-track data  (1851–2025)  ·  326 Gulf hurricanes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B24D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ECF3FB"/>
                </a:solidFill>
                <a:latin typeface="Segoe UI Semibold"/>
              </a:rPr>
              <a:t>The hardest forecast in meteorology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852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B6D2"/>
                </a:solidFill>
                <a:latin typeface="Segoe UI"/>
              </a:rPr>
              <a:t>Track forecasts have improved for thirty years. </a:t>
            </a:r>
            <a:r>
              <a:rPr sz="1500" b="1" i="0">
                <a:solidFill>
                  <a:srgbClr val="ECF3FB"/>
                </a:solidFill>
                <a:latin typeface="Segoe UI"/>
              </a:rPr>
              <a:t>Intensity — and rapid intensification above all — has lagged.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B6D2"/>
                </a:solidFill>
                <a:latin typeface="Segoe UI"/>
              </a:rPr>
              <a:t>Rapid intensification turns a modest storm into a major one with little warning. It is the most dangerous surprise in tropical forecasting — and the Gulf of Mexico is where it happens most in the United States.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B24D"/>
                </a:solidFill>
                <a:latin typeface="Segoe UI"/>
              </a:rPr>
              <a:t>Camille ’69 · Katrina &amp; Rita ’05 · Michael ’18 · Ida ’21 · Milton ’24 — each blew up over the Gulf.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91640"/>
            <a:ext cx="4983480" cy="338328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691640"/>
            <a:ext cx="4983480" cy="82296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965960"/>
            <a:ext cx="4389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3B5C"/>
                </a:solidFill>
                <a:latin typeface="Segoe UI Semibold"/>
              </a:rPr>
              <a:t>WHAT COUNTS AS RAPID INTENSIFICATION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4400" b="1" i="0">
                <a:solidFill>
                  <a:srgbClr val="ECF3FB"/>
                </a:solidFill>
                <a:latin typeface="Segoe UI Semibold"/>
              </a:rPr>
              <a:t>+30 kt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9CB6D2"/>
                </a:solidFill>
                <a:latin typeface="Segoe UI"/>
              </a:rPr>
              <a:t>in 24 hours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CB6D2"/>
                </a:solidFill>
                <a:latin typeface="Segoe UI"/>
              </a:rPr>
              <a:t>≈ 35 mph of extra wind in a single day — the 95th percentile of all 24-hour changes in the North Atlantic, and the operational standard.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CDDC9"/>
                </a:solidFill>
                <a:latin typeface="Segoe UI Semibold"/>
              </a:rPr>
              <a:t>THE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ECF3FB"/>
                </a:solidFill>
                <a:latin typeface="Segoe UI Semibold"/>
              </a:rPr>
              <a:t>Three ingredients must align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CB6D2"/>
                </a:solidFill>
                <a:latin typeface="Segoe UI"/>
              </a:rPr>
              <a:t>The mechanism is well understood. RapidWatch’s question is operational: where and when do all three coincide?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3611880" cy="315468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3611880" cy="9144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606040"/>
            <a:ext cx="3063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FFB24D"/>
                </a:solidFill>
                <a:latin typeface="Segoe UI Semibold"/>
              </a:rPr>
              <a:t>FUEL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 i="0">
                <a:solidFill>
                  <a:srgbClr val="ECF3FB"/>
                </a:solidFill>
                <a:latin typeface="Segoe UI Semibold"/>
              </a:rPr>
              <a:t>Warm sea surface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7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Tropical cyclones need water of roughly 26 °C or more — the energy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9834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B24D"/>
                </a:solidFill>
                <a:latin typeface="Segoe UI"/>
              </a:rPr>
              <a:t>≥ 26 °C SST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331720"/>
            <a:ext cx="3611880" cy="315468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2331720"/>
            <a:ext cx="3611880" cy="91440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606040"/>
            <a:ext cx="3063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FF3B5C"/>
                </a:solidFill>
                <a:latin typeface="Segoe UI Semibold"/>
              </a:rPr>
              <a:t>AMPLIFIER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 i="0">
                <a:solidFill>
                  <a:srgbClr val="ECF3FB"/>
                </a:solidFill>
                <a:latin typeface="Segoe UI Semibold"/>
              </a:rPr>
              <a:t>Deep warm water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7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Deep warm layers suppress the cold wake that would otherwise cap intensification.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49834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3B5C"/>
                </a:solidFill>
                <a:latin typeface="Segoe UI"/>
              </a:rPr>
              <a:t>Ocean heat / D26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2331720"/>
            <a:ext cx="3611880" cy="315468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2331720"/>
            <a:ext cx="3611880" cy="9144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2606040"/>
            <a:ext cx="3063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3CDDC9"/>
                </a:solidFill>
                <a:latin typeface="Segoe UI Semibold"/>
              </a:rPr>
              <a:t>SWITCH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 i="0">
                <a:solidFill>
                  <a:srgbClr val="ECF3FB"/>
                </a:solidFill>
                <a:latin typeface="Segoe UI Semibold"/>
              </a:rPr>
              <a:t>Low wind shear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7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Vertical wind shear is the on/off switch — it tears a developing core apart.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49834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CDDC9"/>
                </a:solidFill>
                <a:latin typeface="Segoe UI"/>
              </a:rPr>
              <a:t>Weak 200–850 hPa shear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B24D"/>
                </a:solidFill>
                <a:latin typeface="Segoe UI Semibold"/>
              </a:rPr>
              <a:t>DATA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ECF3FB"/>
                </a:solidFill>
                <a:latin typeface="Segoe UI Semibold"/>
              </a:rPr>
              <a:t>Measuring preference, not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8521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450" b="0" i="0">
                <a:solidFill>
                  <a:srgbClr val="ECF3FB"/>
                </a:solidFill>
                <a:latin typeface="Segoe UI"/>
              </a:rPr>
              <a:t>175 years of NOAA HURDAT2 best-track data (1851–2025) — 2,004 Atlantic systems.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450" b="0" i="0">
                <a:solidFill>
                  <a:srgbClr val="ECF3FB"/>
                </a:solidFill>
                <a:latin typeface="Segoe UI"/>
              </a:rPr>
              <a:t>Restricted to the 326 hurricanes that reached hurricane strength inside a Gulf polygon.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450" b="0" i="0">
                <a:solidFill>
                  <a:srgbClr val="ECF3FB"/>
                </a:solidFill>
                <a:latin typeface="Segoe UI"/>
              </a:rPr>
              <a:t>An RI onset = any fix whose wind rises ≥ 30 kt over the next 24 h, placed at the start.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450" b="0" i="0">
                <a:solidFill>
                  <a:srgbClr val="ECF3FB"/>
                </a:solidFill>
                <a:latin typeface="Segoe UI"/>
              </a:rPr>
              <a:t>Domain gridded at 0.25°; every cell counts onsets AND all storm fixes passing through.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450" b="0" i="0">
                <a:solidFill>
                  <a:srgbClr val="ECF3FB"/>
                </a:solidFill>
                <a:latin typeface="Segoe UI"/>
              </a:rPr>
              <a:t>The quantity is propensity — onsets ÷ traffic — so a busy shipping lane can’t fake a hotspot.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28800"/>
            <a:ext cx="4937760" cy="329184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0" y="1828800"/>
            <a:ext cx="82296" cy="329184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103120"/>
            <a:ext cx="4434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CDDC9"/>
                </a:solidFill>
                <a:latin typeface="Segoe UI Semibold"/>
              </a:rPr>
              <a:t>WHY NORMALIZE BY TRAFFIC?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Storms cluster along certain paths. Counting raw onsets would just rediscover where storms travel.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Dividing by the number of storms that passed through each cell isolates a real preference — the places where storms are unusually </a:t>
            </a:r>
            <a:r>
              <a:rPr sz="1400" b="1" i="0">
                <a:solidFill>
                  <a:srgbClr val="FFB24D"/>
                </a:solidFill>
                <a:latin typeface="Segoe UI"/>
              </a:rPr>
              <a:t>likely to ignite</a:t>
            </a:r>
            <a:r>
              <a:rPr sz="1400" b="0" i="0">
                <a:solidFill>
                  <a:srgbClr val="9CB6D2"/>
                </a:solidFill>
                <a:latin typeface="Segoe UI"/>
              </a:rPr>
              <a:t>, not merely present.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B24D"/>
                </a:solidFill>
                <a:latin typeface="Segoe UI Semibold"/>
              </a:rPr>
              <a:t>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ECF3FB"/>
                </a:solidFill>
                <a:latin typeface="Segoe UI Semibold"/>
              </a:rPr>
              <a:t>What 175 years of storms 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611880" cy="160020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82296" cy="1600200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32004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3B5C"/>
                </a:solidFill>
                <a:latin typeface="Segoe UI Semibold"/>
              </a:rPr>
              <a:t>3.1×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CF3FB"/>
                </a:solidFill>
                <a:latin typeface="Segoe UI"/>
              </a:rPr>
              <a:t>More likely in the core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B6D2"/>
                </a:solidFill>
                <a:latin typeface="Segoe UI"/>
              </a:rPr>
              <a:t>RI onset in the southern-Gulf core vs. basin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828800"/>
            <a:ext cx="3611880" cy="160020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828800"/>
            <a:ext cx="82296" cy="160020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993392"/>
            <a:ext cx="32004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B24D"/>
                </a:solidFill>
                <a:latin typeface="Segoe UI Semibold"/>
              </a:rPr>
              <a:t>47%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CF3FB"/>
                </a:solidFill>
                <a:latin typeface="Segoe UI"/>
              </a:rPr>
              <a:t>Of Gulf hurricanes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B6D2"/>
                </a:solidFill>
                <a:latin typeface="Segoe UI"/>
              </a:rPr>
              <a:t>underwent at least one RI onset inside the Gulf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6" y="1828800"/>
            <a:ext cx="3611880" cy="160020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0456" y="1828800"/>
            <a:ext cx="82296" cy="160020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4776" y="1993392"/>
            <a:ext cx="32004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3CDDC9"/>
                </a:solidFill>
                <a:latin typeface="Segoe UI Semibold"/>
              </a:rPr>
              <a:t>84%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CF3FB"/>
                </a:solidFill>
                <a:latin typeface="Segoe UI"/>
              </a:rPr>
              <a:t>Of onsets in Aug–Oct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B6D2"/>
                </a:solidFill>
                <a:latin typeface="Segoe UI"/>
              </a:rPr>
              <a:t>peaking sharply in September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75887"/>
            <a:ext cx="3611880" cy="160020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75887"/>
            <a:ext cx="82296" cy="160020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40479"/>
            <a:ext cx="32004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B24D"/>
                </a:solidFill>
                <a:latin typeface="Segoe UI Semibold"/>
              </a:rPr>
              <a:t>50 kt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CF3FB"/>
                </a:solidFill>
                <a:latin typeface="Segoe UI"/>
              </a:rPr>
              <a:t>Median strength at onset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B6D2"/>
                </a:solidFill>
                <a:latin typeface="Segoe UI"/>
              </a:rPr>
              <a:t>RI begins while a storm is still a tropical storm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675887"/>
            <a:ext cx="3611880" cy="160020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3675887"/>
            <a:ext cx="82296" cy="1600200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3840479"/>
            <a:ext cx="32004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FF3B5C"/>
                </a:solidFill>
                <a:latin typeface="Segoe UI Semibold"/>
              </a:rPr>
              <a:t>66%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CF3FB"/>
                </a:solidFill>
                <a:latin typeface="Segoe UI"/>
              </a:rPr>
              <a:t>Begin at ≤ TS strength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B6D2"/>
                </a:solidFill>
                <a:latin typeface="Segoe UI"/>
              </a:rPr>
              <a:t>the storms that explode rarely look dangerous yet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0456" y="3675887"/>
            <a:ext cx="3611880" cy="160020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0456" y="3675887"/>
            <a:ext cx="82296" cy="160020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4776" y="3840479"/>
            <a:ext cx="32004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3CDDC9"/>
                </a:solidFill>
                <a:latin typeface="Segoe UI Semibold"/>
              </a:rPr>
              <a:t>326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CF3FB"/>
                </a:solidFill>
                <a:latin typeface="Segoe UI"/>
              </a:rPr>
              <a:t>Gulf hurricanes analyzed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B6D2"/>
                </a:solidFill>
                <a:latin typeface="Segoe UI"/>
              </a:rPr>
              <a:t>411 RI-onset intervals detected, 1851–2025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3B5C"/>
                </a:solidFill>
                <a:latin typeface="Segoe UI Semibold"/>
              </a:rPr>
              <a:t>FINDING 1 —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CF3FB"/>
                </a:solidFill>
                <a:latin typeface="Segoe UI Semibold"/>
              </a:rPr>
              <a:t>It is geographically concentrated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B6D2"/>
                </a:solidFill>
                <a:latin typeface="Segoe UI"/>
              </a:rPr>
              <a:t>Nearly </a:t>
            </a:r>
            <a:r>
              <a:rPr sz="1500" b="1" i="0">
                <a:solidFill>
                  <a:srgbClr val="FF3B5C"/>
                </a:solidFill>
                <a:latin typeface="Segoe UI"/>
              </a:rPr>
              <a:t>one fix in four</a:t>
            </a:r>
            <a:r>
              <a:rPr sz="1500" b="0" i="0">
                <a:solidFill>
                  <a:srgbClr val="9CB6D2"/>
                </a:solidFill>
                <a:latin typeface="Segoe UI"/>
              </a:rPr>
              <a:t> in the southern-Gulf core is an RI onset — </a:t>
            </a:r>
            <a:r>
              <a:rPr sz="1500" b="1" i="0">
                <a:solidFill>
                  <a:srgbClr val="ECF3FB"/>
                </a:solidFill>
                <a:latin typeface="Segoe UI"/>
              </a:rPr>
              <a:t>3.1× the basin average.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The tightest core sits over the Bay of Campeche and the southwestern flank of the Loop Current (≈ 21–23 °N, 92–94 °W), fanning east toward the Yucatán Channel.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617720"/>
            <a:ext cx="4572000" cy="1051560"/>
          </a:xfrm>
          <a:prstGeom prst="round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617720"/>
            <a:ext cx="82296" cy="1051560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45736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3B5C"/>
                </a:solidFill>
                <a:latin typeface="Segoe UI Semibold"/>
              </a:rPr>
              <a:t>TAKEAWAY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3FB"/>
                </a:solidFill>
                <a:latin typeface="Segoe UI"/>
              </a:rPr>
              <a:t>A genuine preference — it survives normalization by storm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4792" y="1307592"/>
            <a:ext cx="6086856" cy="47457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_hotspo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520" y="1417320"/>
            <a:ext cx="5867400" cy="4526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B24D"/>
                </a:solidFill>
                <a:latin typeface="Segoe UI Semibold"/>
              </a:rPr>
              <a:t>FINDING 2 —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CF3FB"/>
                </a:solidFill>
                <a:latin typeface="Segoe UI Semibold"/>
              </a:rPr>
              <a:t>It is strongly seasonal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B6D2"/>
                </a:solidFill>
                <a:latin typeface="Segoe UI"/>
              </a:rPr>
              <a:t>September is the peak month; </a:t>
            </a:r>
            <a:r>
              <a:rPr sz="1500" b="1" i="0">
                <a:solidFill>
                  <a:srgbClr val="ECF3FB"/>
                </a:solidFill>
                <a:latin typeface="Segoe UI"/>
              </a:rPr>
              <a:t>84% of all onsets fall in August–October.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This is when the three ingredients align at once: sea-surface temperature at its annual peak, the Loop Current carrying its deepest warm layer, and basin-wide shear at its climatological lowest.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617720"/>
            <a:ext cx="4572000" cy="1051560"/>
          </a:xfrm>
          <a:prstGeom prst="round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617720"/>
            <a:ext cx="82296" cy="105156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45736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B24D"/>
                </a:solidFill>
                <a:latin typeface="Segoe UI Semibold"/>
              </a:rPr>
              <a:t>TAKEAWAY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3FB"/>
                </a:solidFill>
                <a:latin typeface="Segoe UI"/>
              </a:rPr>
              <a:t>One calendar: pre-position for the warm season, peaking in September.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0952" y="1550757"/>
            <a:ext cx="6574536" cy="421368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60485"/>
            <a:ext cx="6355080" cy="39942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CDDC9"/>
                </a:solidFill>
                <a:latin typeface="Segoe UI Semibold"/>
              </a:rPr>
              <a:t>FINDING 3 — AT WHAT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CF3FB"/>
                </a:solidFill>
                <a:latin typeface="Segoe UI Semibold"/>
              </a:rPr>
              <a:t>It starts in weak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B6D2"/>
                </a:solidFill>
                <a:latin typeface="Segoe UI"/>
              </a:rPr>
              <a:t>Median intensity at onset is just </a:t>
            </a:r>
            <a:r>
              <a:rPr sz="1500" b="1" i="0">
                <a:solidFill>
                  <a:srgbClr val="3CDDC9"/>
                </a:solidFill>
                <a:latin typeface="Segoe UI"/>
              </a:rPr>
              <a:t>50 kt</a:t>
            </a:r>
            <a:r>
              <a:rPr sz="1500" b="0" i="0">
                <a:solidFill>
                  <a:srgbClr val="9CB6D2"/>
                </a:solidFill>
                <a:latin typeface="Segoe UI"/>
              </a:rPr>
              <a:t>. Two-thirds of onsets begin at tropical-storm strength or below; 87% at Cat 1 or below.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CF3FB"/>
                </a:solidFill>
                <a:latin typeface="Segoe UI"/>
              </a:rPr>
              <a:t>By the time a storm looks dangerous, the window most in need of observation has often already opened.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617720"/>
            <a:ext cx="4572000" cy="1051560"/>
          </a:xfrm>
          <a:prstGeom prst="round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617720"/>
            <a:ext cx="82296" cy="105156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45736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CDDC9"/>
                </a:solidFill>
                <a:latin typeface="Segoe UI Semibold"/>
              </a:rPr>
              <a:t>TAKEAWAY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3FB"/>
                </a:solidFill>
                <a:latin typeface="Segoe UI"/>
              </a:rPr>
              <a:t>Targeting must include developing systems — not just the storms that already look like a threat.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0952" y="1466974"/>
            <a:ext cx="6574536" cy="43812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3_onset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576702"/>
            <a:ext cx="6355080" cy="416179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3B5C"/>
                </a:solidFill>
                <a:latin typeface="Segoe UI Semibold"/>
              </a:rPr>
              <a:t>FINDING 4 —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ECF3FB"/>
                </a:solidFill>
                <a:latin typeface="Segoe UI Semibold"/>
              </a:rPr>
              <a:t>The hotspot sits on the deep warm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4160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The geography is no coincidence. The core overlies the Gulf’s two deepest warm-water features — the </a:t>
            </a:r>
            <a:r>
              <a:rPr sz="1400" b="1" i="0">
                <a:solidFill>
                  <a:srgbClr val="FF3B5C"/>
                </a:solidFill>
                <a:latin typeface="Segoe UI"/>
              </a:rPr>
              <a:t>Loop Current</a:t>
            </a:r>
            <a:r>
              <a:rPr sz="1400" b="0" i="0">
                <a:solidFill>
                  <a:srgbClr val="9CB6D2"/>
                </a:solidFill>
                <a:latin typeface="Segoe UI"/>
              </a:rPr>
              <a:t> and the </a:t>
            </a:r>
            <a:r>
              <a:rPr sz="1400" b="1" i="0">
                <a:solidFill>
                  <a:srgbClr val="FF3B5C"/>
                </a:solidFill>
                <a:latin typeface="Segoe UI"/>
              </a:rPr>
              <a:t>Bay of Campeche warm pool.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9CB6D2"/>
                </a:solidFill>
                <a:latin typeface="Segoe UI"/>
              </a:rPr>
              <a:t>Measured ocean heat (depth of the 26 °C isotherm, D26) confirms it storm by storm: Katrina, Rita, and Helene each intensified over water 1.2–1.7× the Gulf-median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8121" y="1261872"/>
            <a:ext cx="6545836" cy="515721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6_storm_d26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849" y="1371600"/>
            <a:ext cx="632638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B24D"/>
                </a:solidFill>
                <a:latin typeface="Segoe UI Semibold"/>
              </a:rPr>
              <a:t>THE INSTRUCTIVE 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3FB"/>
                </a:solidFill>
                <a:latin typeface="Segoe UI Semibold"/>
              </a:rPr>
              <a:t>Milton 2024 — deep heat is not the only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4572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B6D2"/>
                </a:solidFill>
                <a:latin typeface="Segoe UI"/>
              </a:rPr>
              <a:t>The most explosive case on record — </a:t>
            </a:r>
            <a:r>
              <a:rPr sz="1500" b="1" i="0">
                <a:solidFill>
                  <a:srgbClr val="FFB24D"/>
                </a:solidFill>
                <a:latin typeface="Segoe UI"/>
              </a:rPr>
              <a:t>+80 kt in a day</a:t>
            </a:r>
            <a:r>
              <a:rPr sz="1500" b="0" i="0">
                <a:solidFill>
                  <a:srgbClr val="9CB6D2"/>
                </a:solidFill>
                <a:latin typeface="Segoe UI"/>
              </a:rPr>
              <a:t> — began over the Bay of Campeche where the warm layer was only ~52 m deep, below the Gulf median.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CF3FB"/>
                </a:solidFill>
                <a:latin typeface="Segoe UI"/>
              </a:rPr>
              <a:t>Its fuel was record sea-surface temperature and near-zero shear — not the deepest ocean heat.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754880"/>
            <a:ext cx="4572000" cy="1051560"/>
          </a:xfrm>
          <a:prstGeom prst="round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754880"/>
            <a:ext cx="82296" cy="105156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82896"/>
            <a:ext cx="4114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B24D"/>
                </a:solidFill>
                <a:latin typeface="Segoe UI Semibold"/>
              </a:rPr>
              <a:t>TAKEAWAY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CF3FB"/>
                </a:solidFill>
                <a:latin typeface="Segoe UI"/>
              </a:rPr>
              <a:t>Deep warm water amplifies rapid intensification — but it is not the sole trigger.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0446" y="1444752"/>
            <a:ext cx="6515547" cy="44256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5_storm_d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174" y="1554480"/>
            <a:ext cx="6296091" cy="4206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CDDC9"/>
                </a:solidFill>
                <a:latin typeface="Segoe UI Semibold"/>
              </a:rPr>
              <a:t>THE HONEST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3FB"/>
                </a:solidFill>
                <a:latin typeface="Segoe UI Semibold"/>
              </a:rPr>
              <a:t>Does warm-water depth add forecasting skill?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41605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Across 76 Gulf hurricanes (698 fixes, 89 onsets), depth alone is </a:t>
            </a:r>
            <a:r>
              <a:rPr sz="1400" b="1" i="0">
                <a:solidFill>
                  <a:srgbClr val="3CDDC9"/>
                </a:solidFill>
                <a:latin typeface="Segoe UI"/>
              </a:rPr>
              <a:t>barely better than a coin flip</a:t>
            </a:r>
            <a:r>
              <a:rPr sz="1400" b="0" i="0">
                <a:solidFill>
                  <a:srgbClr val="9CB6D2"/>
                </a:solidFill>
                <a:latin typeface="Segoe UI"/>
              </a:rPr>
              <a:t> at separating onsets from non-onsets (AUC 0.55).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CB6D2"/>
                </a:solidFill>
                <a:latin typeface="Segoe UI"/>
              </a:rPr>
              <a:t>Add D26 to location, season, and current intensity, and out-of-sample skill is essentially unchanged (0.693 → 0.689).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ECF3FB"/>
                </a:solidFill>
                <a:latin typeface="Segoe UI"/>
              </a:rPr>
              <a:t>Not irrelevance — redundancy. Where and when already encode where the deep warm water 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0872" y="1640391"/>
            <a:ext cx="7260336" cy="412585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scaled_d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50119"/>
            <a:ext cx="7040880" cy="39064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B24D"/>
                </a:solidFill>
                <a:latin typeface="Segoe UI Semibold"/>
              </a:rPr>
              <a:t>FROM SCIENCE TO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CF3FB"/>
                </a:solidFill>
                <a:latin typeface="Segoe UI Semibold"/>
              </a:rPr>
              <a:t>Two distinct operational zones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4572000" cy="169164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82296" cy="1691640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4114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3B5C"/>
                </a:solidFill>
                <a:latin typeface="Segoe UI Semibold"/>
              </a:rPr>
              <a:t>ZONE A — ONSET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ECF3FB"/>
                </a:solidFill>
                <a:latin typeface="Segoe UI Semibold"/>
              </a:rPr>
              <a:t>Southern-Gulf core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CB6D2"/>
                </a:solidFill>
                <a:latin typeface="Segoe UI"/>
              </a:rPr>
              <a:t>Where RI begins, in weak systems entering from the south. Sample the ocean ahead of the storm to catch it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4572000" cy="169164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82296" cy="169164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75887"/>
            <a:ext cx="4114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B24D"/>
                </a:solidFill>
                <a:latin typeface="Segoe UI Semibold"/>
              </a:rPr>
              <a:t>ZONE B — IMPACT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ECF3FB"/>
                </a:solidFill>
                <a:latin typeface="Segoe UI Semibold"/>
              </a:rPr>
              <a:t>Loop Current corridor &amp; shelf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CB6D2"/>
                </a:solidFill>
                <a:latin typeface="Segoe UI"/>
              </a:rPr>
              <a:t>Where RI continues toward U.S. landfall — Katrina, Rita, Michael, Ida. Highest stakes for warning.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5570" y="1307592"/>
            <a:ext cx="5505299" cy="47914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7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298" y="1417320"/>
            <a:ext cx="5285843" cy="457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B24D"/>
                </a:solidFill>
                <a:latin typeface="Segoe UI Semibold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ECF3FB"/>
                </a:solidFill>
                <a:latin typeface="Segoe UI Semibold"/>
              </a:rPr>
              <a:t>The Gulf RI Watch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611880" cy="402336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611880" cy="9144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CDDC9"/>
                </a:solidFill>
                <a:latin typeface="Segoe UI Semibold"/>
              </a:rPr>
              <a:t>WHEN —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3CDDC9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ECF3FB"/>
                </a:solidFill>
                <a:latin typeface="Segoe UI"/>
              </a:rPr>
              <a:t>Any system forms in the Gulf or Bay of Campeche — any intensity, including disturbances.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3CDDC9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ECF3FB"/>
                </a:solidFill>
                <a:latin typeface="Segoe UI"/>
              </a:rPr>
              <a:t>A NW-Caribbean system is forecast through the Yucatán Channel within 72 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3CDDC9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ECF3FB"/>
                </a:solidFill>
                <a:latin typeface="Segoe UI"/>
              </a:rPr>
              <a:t>A Gulf system is forecast over the Loop Current toward the north-central shelf.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828800"/>
            <a:ext cx="3611880" cy="402336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828800"/>
            <a:ext cx="3611880" cy="91440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1214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3B5C"/>
                </a:solidFill>
                <a:latin typeface="Segoe UI Semibold"/>
              </a:rPr>
              <a:t>WHERE —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69748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3B5C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ECF3FB"/>
                </a:solidFill>
                <a:latin typeface="Segoe UI"/>
              </a:rPr>
              <a:t>Primary: the southern-Gulf core box (20.9–22.9 °N, 91.6–93.9 °W).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3B5C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ECF3FB"/>
                </a:solidFill>
                <a:latin typeface="Segoe UI"/>
              </a:rPr>
              <a:t>Expanded to the watch box to take in the Yucatán intrusion.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3B5C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ECF3FB"/>
                </a:solidFill>
                <a:latin typeface="Segoe UI"/>
              </a:rPr>
              <a:t>Secondary: the Loop Current corridor along the forecast track.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828800"/>
            <a:ext cx="3611880" cy="402336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828800"/>
            <a:ext cx="3611880" cy="9144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94776" y="21214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B24D"/>
                </a:solidFill>
                <a:latin typeface="Segoe UI Semibold"/>
              </a:rPr>
              <a:t>HOW — LEAD &amp;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269748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ECF3FB"/>
                </a:solidFill>
                <a:latin typeface="Segoe UI"/>
              </a:rPr>
              <a:t>Sample 12–36 h ahead of projected onset, ahead of the track.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ECF3FB"/>
                </a:solidFill>
                <a:latin typeface="Segoe UI"/>
              </a:rPr>
              <a:t>In warm season, treat any qualifying system as RI-capable by default.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ECF3FB"/>
                </a:solidFill>
                <a:latin typeface="Segoe UI"/>
              </a:rPr>
              <a:t>Priority: ocean heat → inner core of weak systems → environmental shear.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3CDDC9"/>
                </a:solidFill>
                <a:latin typeface="Segoe UI Semibold"/>
              </a:rPr>
              <a:t>CLOSING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CF3FB"/>
                </a:solidFill>
                <a:latin typeface="Segoe UI Semibold"/>
              </a:rPr>
              <a:t>The platforms — by the two persistent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532120" cy="402336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532120" cy="9144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CDDC9"/>
                </a:solidFill>
                <a:latin typeface="Segoe UI Semibold"/>
              </a:rPr>
              <a:t>GAP 1</a:t>
            </a:r>
            <a:r>
              <a:rPr sz="1450" b="1" i="0">
                <a:solidFill>
                  <a:srgbClr val="ECF3FB"/>
                </a:solidFill>
                <a:latin typeface="Segoe UI"/>
              </a:rPr>
              <a:t>   Subsurface ocean heat ahead of the storm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CDDC9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AXBT / AXCTD ocean profilers dropped from P-3 &amp; C-130 across the core box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CDDC9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Air-deployed ALAMO / APEX profiling floats through the event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CDDC9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IOOS hurricane-glider picket line, Yucatán to Campeche Bank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CDDC9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Satellite altimetry — Sentinel-6, Jason, SWOT — for ocean-heat mapping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CDDC9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Enhanced seasonal Argo to anchor altimetry → warm-layer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440680" cy="4023360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440680" cy="9144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B24D"/>
                </a:solidFill>
                <a:latin typeface="Segoe UI Semibold"/>
              </a:rPr>
              <a:t>GAP 2</a:t>
            </a:r>
            <a:r>
              <a:rPr sz="1450" b="1" i="0">
                <a:solidFill>
                  <a:srgbClr val="ECF3FB"/>
                </a:solidFill>
                <a:latin typeface="Segoe UI"/>
              </a:rPr>
              <a:t>   Inner core of developing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NOAA WP-3D with Tail Doppler Radar + dropsondes — tasked earlier, at TS strength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Small uncrewed aircraft (Altius-600, Coyote) in the boundary-layer inflow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Saildrone surface vehicles for air–sea flux through the season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G-IV synoptic surveillance to constrain shear and steering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FFB24D"/>
                </a:solidFill>
                <a:latin typeface="Segoe UI"/>
              </a:rPr>
              <a:t>▸  </a:t>
            </a:r>
            <a:r>
              <a:rPr sz="1300" b="0" i="0">
                <a:solidFill>
                  <a:srgbClr val="ECF3FB"/>
                </a:solidFill>
                <a:latin typeface="Segoe UI"/>
              </a:rPr>
              <a:t>Protect passive-microwave coverage (DMSP/SSMIS ending) over the Gulf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9496"/>
            <a:ext cx="310896" cy="5486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B24D"/>
                </a:solidFill>
                <a:latin typeface="Segoe UI Semibold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ECF3FB"/>
                </a:solidFill>
                <a:latin typeface="Segoe UI Semibold"/>
              </a:rPr>
              <a:t>A seasonal calendar and a priority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675120" cy="804672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82296" cy="804672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3B5C"/>
                </a:solidFill>
                <a:latin typeface="Segoe UI"/>
              </a:rPr>
              <a:t>Concentrated  —  </a:t>
            </a:r>
            <a:r>
              <a:rPr sz="1350" b="0" i="0">
                <a:solidFill>
                  <a:srgbClr val="ECF3FB"/>
                </a:solidFill>
                <a:latin typeface="Segoe UI"/>
              </a:rPr>
              <a:t>RI onset is ~3× more likely in a southern-Gulf core (≈ 21–23 °N, 92–94 °W).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61488"/>
            <a:ext cx="6675120" cy="804672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761488"/>
            <a:ext cx="82296" cy="804672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61488"/>
            <a:ext cx="64008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B24D"/>
                </a:solidFill>
                <a:latin typeface="Segoe UI"/>
              </a:rPr>
              <a:t>Seasonal  —  </a:t>
            </a:r>
            <a:r>
              <a:rPr sz="1350" b="0" i="0">
                <a:solidFill>
                  <a:srgbClr val="ECF3FB"/>
                </a:solidFill>
                <a:latin typeface="Segoe UI"/>
              </a:rPr>
              <a:t>84% of onsets fall Aug–Oct, peaking in September.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94176"/>
            <a:ext cx="6675120" cy="804672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94176"/>
            <a:ext cx="82296" cy="804672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94176"/>
            <a:ext cx="64008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3CDDC9"/>
                </a:solidFill>
                <a:latin typeface="Segoe UI"/>
              </a:rPr>
              <a:t>Early  —  </a:t>
            </a:r>
            <a:r>
              <a:rPr sz="1350" b="0" i="0">
                <a:solidFill>
                  <a:srgbClr val="ECF3FB"/>
                </a:solidFill>
                <a:latin typeface="Segoe UI"/>
              </a:rPr>
              <a:t>It begins in weak systems — two-thirds at tropical-storm strength or below.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26864"/>
            <a:ext cx="6675120" cy="804672"/>
          </a:xfrm>
          <a:prstGeom prst="roundRect">
            <a:avLst/>
          </a:prstGeom>
          <a:solidFill>
            <a:srgbClr val="1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626864"/>
            <a:ext cx="82296" cy="804672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26864"/>
            <a:ext cx="64008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B24D"/>
                </a:solidFill>
                <a:latin typeface="Segoe UI"/>
              </a:rPr>
              <a:t>Redundant signal  —  </a:t>
            </a:r>
            <a:r>
              <a:rPr sz="1350" b="0" i="0">
                <a:solidFill>
                  <a:srgbClr val="ECF3FB"/>
                </a:solidFill>
                <a:latin typeface="Segoe UI"/>
              </a:rPr>
              <a:t>Measured ocean heat adds little skill beyond location + season — they already encode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828800"/>
            <a:ext cx="4251960" cy="3712463"/>
          </a:xfrm>
          <a:prstGeom prst="roundRect">
            <a:avLst/>
          </a:prstGeom>
          <a:solidFill>
            <a:srgbClr val="0E2038"/>
          </a:solidFill>
          <a:ln>
            <a:noFill/>
          </a:ln>
          <a:effectLst/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1828800"/>
            <a:ext cx="4251960" cy="9144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14884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DDC9"/>
                </a:solidFill>
                <a:latin typeface="Segoe UI Semibold"/>
              </a:rPr>
              <a:t>THE OPERATIONAL PAYOFF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CF3FB"/>
                </a:solidFill>
                <a:latin typeface="Segoe UI"/>
              </a:rPr>
              <a:t>Point finite flight-hours and glider-days at the high-propensity core, in the right season, at 12–36 h lead.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CB6D2"/>
                </a:solidFill>
                <a:latin typeface="Segoe UI"/>
              </a:rPr>
              <a:t>The value of real-time ocean heat is in </a:t>
            </a:r>
            <a:r>
              <a:rPr sz="1350" b="1" i="0">
                <a:solidFill>
                  <a:srgbClr val="FFB24D"/>
                </a:solidFill>
                <a:latin typeface="Segoe UI"/>
              </a:rPr>
              <a:t>initializing the coupled forecast models</a:t>
            </a:r>
            <a:r>
              <a:rPr sz="1350" b="0" i="0">
                <a:solidFill>
                  <a:srgbClr val="9CB6D2"/>
                </a:solidFill>
                <a:latin typeface="Segoe UI"/>
              </a:rPr>
              <a:t> — not as a stand-alone warning signal.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B24D"/>
                </a:solidFill>
                <a:latin typeface="Segoe UI Semibold"/>
              </a:rPr>
              <a:t>RAPIDWATCH</a:t>
            </a:r>
            <a:r>
              <a:rPr sz="900" b="0" i="0">
                <a:solidFill>
                  <a:srgbClr val="6B86A6"/>
                </a:solidFill>
                <a:latin typeface="Segoe UI"/>
              </a:rPr>
              <a:t>   ·   Gulf Rapid-Intensification Observatory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9224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CB6D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 i="0">
                <a:solidFill>
                  <a:srgbClr val="ECF3FB"/>
                </a:solidFill>
                <a:latin typeface="Segoe UI Semibold"/>
              </a:rPr>
              <a:t>RapidWatch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9CB6D2"/>
                </a:solidFill>
                <a:latin typeface="Segoe UI"/>
              </a:rPr>
              <a:t>Gulf Geospatial Canvas — Rapid-Intensification Observatory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794760"/>
            <a:ext cx="2377440" cy="45720"/>
          </a:xfrm>
          <a:prstGeom prst="rect">
            <a:avLst/>
          </a:prstGeom>
          <a:solidFill>
            <a:srgbClr val="3CD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0690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9CB6D2"/>
                </a:solidFill>
                <a:latin typeface="Segoe UI"/>
              </a:rPr>
              <a:t>Interactive map · 326-storm history · live buoys &amp; NHC cone · four measured ocean-heat fields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24D"/>
                </a:solidFill>
                <a:latin typeface="Segoe UI"/>
              </a:rPr>
              <a:t>aphilp1.github.io/rapidwatch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9CB6D2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86A6"/>
                </a:solidFill>
                <a:latin typeface="Segoe UI"/>
              </a:rPr>
              <a:t>Alex Philp, Ph.D.  ·  Data: NOAA HURDAT2 1851–2025 · HYCOM GOFS 3.1 · Copernicus GLORYS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